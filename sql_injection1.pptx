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63" r:id="rId9"/>
    <p:sldId id="264" r:id="rId10"/>
    <p:sldId id="265" r:id="rId11"/>
    <p:sldId id="268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6" dt="2026-10-28T19:52:20.825"/>
    <p1510:client id="{02CFEEDA-DFE2-8896-3C1B-286610DAFC11}" v="8" dt="2026-10-28T15:07:38.438"/>
    <p1510:client id="{52E9AC51-D498-9CF2-E9EE-F795F2F56DEE}" v="154" dt="2026-10-28T19:30:45.820"/>
    <p1510:client id="{E0AD1421-4476-E1C2-84A6-9573228CC55A}" v="269" dt="2026-10-27T20:55:37.400"/>
    <p1510:client id="{EF94DCD5-C8F5-27EB-6609-87969B252541}" v="12" dt="2026-10-28T15:08:18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63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0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5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1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7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6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1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3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5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4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5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3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55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21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6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627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9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72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9ACBD-DFE1-3F22-154E-F8F09A387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3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5135" y="1964267"/>
            <a:ext cx="3254990" cy="24214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>
                <a:latin typeface="Aptos"/>
              </a:rPr>
              <a:t>SQL Injection</a:t>
            </a:r>
            <a:endParaRPr lang="en-US" sz="5400" b="1">
              <a:latin typeface="Aptos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BA81-0E08-596E-187B-CC359C1C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Co to jest SQL Injection?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D661-8F1A-CBB6-12C1-E15E30CFE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>
                <a:latin typeface="Aptos"/>
                <a:cs typeface="Arial"/>
              </a:rPr>
              <a:t>   </a:t>
            </a:r>
            <a:r>
              <a:rPr lang="en-US" sz="2800">
                <a:latin typeface="Aptos"/>
                <a:cs typeface="Arial"/>
              </a:rPr>
              <a:t> SQL Injection – </a:t>
            </a:r>
            <a:r>
              <a:rPr lang="en-US" sz="2800" err="1">
                <a:latin typeface="Aptos"/>
                <a:cs typeface="Arial"/>
              </a:rPr>
              <a:t>metoda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cyberataku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wykorzystująca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lukę</a:t>
            </a:r>
            <a:r>
              <a:rPr lang="en-US" sz="2800">
                <a:latin typeface="Aptos"/>
                <a:cs typeface="Arial"/>
              </a:rPr>
              <a:t> w </a:t>
            </a:r>
            <a:r>
              <a:rPr lang="en-US" sz="2800" err="1">
                <a:latin typeface="Aptos"/>
                <a:cs typeface="Arial"/>
              </a:rPr>
              <a:t>zabezpieczeniach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aplikacji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polegającą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na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nieodpowiednim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filtrowaniu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lub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niedostatecznym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typowaniu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danych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użytkownika</a:t>
            </a:r>
            <a:r>
              <a:rPr lang="en-US" sz="2800">
                <a:latin typeface="Aptos"/>
                <a:cs typeface="Arial"/>
              </a:rPr>
              <a:t>, </a:t>
            </a:r>
            <a:r>
              <a:rPr lang="en-US" sz="2800" err="1">
                <a:latin typeface="Aptos"/>
                <a:cs typeface="Arial"/>
              </a:rPr>
              <a:t>które</a:t>
            </a:r>
            <a:r>
              <a:rPr lang="en-US" sz="2800">
                <a:latin typeface="Aptos"/>
                <a:cs typeface="Arial"/>
              </a:rPr>
              <a:t> to </a:t>
            </a:r>
            <a:r>
              <a:rPr lang="en-US" sz="2800" err="1">
                <a:latin typeface="Aptos"/>
                <a:cs typeface="Arial"/>
              </a:rPr>
              <a:t>dane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są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później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wykorzystywane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przy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wykonaniu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zapytań</a:t>
            </a:r>
            <a:r>
              <a:rPr lang="en-US" sz="2800">
                <a:latin typeface="Aptos"/>
                <a:cs typeface="Arial"/>
              </a:rPr>
              <a:t> do </a:t>
            </a:r>
            <a:r>
              <a:rPr lang="en-US" sz="2800" err="1">
                <a:latin typeface="Aptos"/>
                <a:cs typeface="Arial"/>
              </a:rPr>
              <a:t>bazy</a:t>
            </a:r>
            <a:r>
              <a:rPr lang="en-US" sz="2800">
                <a:latin typeface="Aptos"/>
                <a:cs typeface="Arial"/>
              </a:rPr>
              <a:t> </a:t>
            </a:r>
            <a:r>
              <a:rPr lang="en-US" sz="2800" err="1">
                <a:latin typeface="Aptos"/>
                <a:cs typeface="Arial"/>
              </a:rPr>
              <a:t>danych</a:t>
            </a:r>
            <a:r>
              <a:rPr lang="en-US" sz="2800">
                <a:latin typeface="Aptos"/>
                <a:cs typeface="Arial"/>
              </a:rPr>
              <a:t>.</a:t>
            </a:r>
            <a:endParaRPr lang="en-US" sz="2800">
              <a:latin typeface="Aptos"/>
            </a:endParaRPr>
          </a:p>
          <a:p>
            <a:pPr marL="0" indent="0"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6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B8D6-1000-632C-8F6E-42310E7C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Aptos"/>
              </a:rPr>
              <a:t>Schemat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ataku</a:t>
            </a:r>
            <a:endParaRPr lang="en-US" b="1">
              <a:latin typeface="Aptos"/>
              <a:ea typeface="Calibri Light"/>
              <a:cs typeface="Calibri Light"/>
            </a:endParaRPr>
          </a:p>
        </p:txBody>
      </p:sp>
      <p:pic>
        <p:nvPicPr>
          <p:cNvPr id="3" name="Obraz 2" descr="Wyszukiwanie obrazem w Google Grafika na telefonie i komputerze - Blog Delante">
            <a:extLst>
              <a:ext uri="{FF2B5EF4-FFF2-40B4-BE49-F238E27FC236}">
                <a16:creationId xmlns:a16="http://schemas.microsoft.com/office/drawing/2014/main" id="{ECAAC1AE-79F2-5F89-89B2-7D057EC15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42" y="2073875"/>
            <a:ext cx="2622209" cy="1742304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EB3D04F-0BA8-85F2-0796-0D8F03F45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733" y="2079152"/>
            <a:ext cx="2797776" cy="1752343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0CDC1B9-64F6-B789-EAA0-61D306C87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677" y="2066925"/>
            <a:ext cx="2932671" cy="1766502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3CACA080-E2D9-F3A2-5D27-20BB0A009C95}"/>
              </a:ext>
            </a:extLst>
          </p:cNvPr>
          <p:cNvSpPr/>
          <p:nvPr/>
        </p:nvSpPr>
        <p:spPr>
          <a:xfrm>
            <a:off x="3395529" y="2801648"/>
            <a:ext cx="1214078" cy="455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Strzałka: w prawo 9">
            <a:extLst>
              <a:ext uri="{FF2B5EF4-FFF2-40B4-BE49-F238E27FC236}">
                <a16:creationId xmlns:a16="http://schemas.microsoft.com/office/drawing/2014/main" id="{CC5C9CA6-78C2-39E7-9E88-564A376BCCFC}"/>
              </a:ext>
            </a:extLst>
          </p:cNvPr>
          <p:cNvSpPr/>
          <p:nvPr/>
        </p:nvSpPr>
        <p:spPr>
          <a:xfrm>
            <a:off x="7415403" y="2787847"/>
            <a:ext cx="1283513" cy="462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 descr="Młodzież a koronawirus - SPSPZOZ">
            <a:extLst>
              <a:ext uri="{FF2B5EF4-FFF2-40B4-BE49-F238E27FC236}">
                <a16:creationId xmlns:a16="http://schemas.microsoft.com/office/drawing/2014/main" id="{A4C43CB2-97C1-50E0-A81F-F90874671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544" y="4538276"/>
            <a:ext cx="2922373" cy="1787097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sp>
        <p:nvSpPr>
          <p:cNvPr id="12" name="Strzałka: w prawo 11">
            <a:extLst>
              <a:ext uri="{FF2B5EF4-FFF2-40B4-BE49-F238E27FC236}">
                <a16:creationId xmlns:a16="http://schemas.microsoft.com/office/drawing/2014/main" id="{CB813E70-9F6A-DC30-6154-A17CEDE9F1E4}"/>
              </a:ext>
            </a:extLst>
          </p:cNvPr>
          <p:cNvSpPr/>
          <p:nvPr/>
        </p:nvSpPr>
        <p:spPr>
          <a:xfrm rot="7620000">
            <a:off x="8970294" y="4044117"/>
            <a:ext cx="1283513" cy="462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" name="Obraz 12" descr="Otwórz Drzwi - Stockowe grafiki wektorowe i więcej obrazów Drzwi - Drzwi, Otwarty, Tylne drzwi - iStock">
            <a:extLst>
              <a:ext uri="{FF2B5EF4-FFF2-40B4-BE49-F238E27FC236}">
                <a16:creationId xmlns:a16="http://schemas.microsoft.com/office/drawing/2014/main" id="{1F1FAABC-BDBC-0D83-ADD2-AD7671AAE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876" y="4530810"/>
            <a:ext cx="2596465" cy="1894704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sp>
        <p:nvSpPr>
          <p:cNvPr id="14" name="Strzałka: w lewo 13">
            <a:extLst>
              <a:ext uri="{FF2B5EF4-FFF2-40B4-BE49-F238E27FC236}">
                <a16:creationId xmlns:a16="http://schemas.microsoft.com/office/drawing/2014/main" id="{702128E3-C576-B687-5DEA-A2A84674B340}"/>
              </a:ext>
            </a:extLst>
          </p:cNvPr>
          <p:cNvSpPr/>
          <p:nvPr/>
        </p:nvSpPr>
        <p:spPr>
          <a:xfrm>
            <a:off x="4550898" y="5164516"/>
            <a:ext cx="1876966" cy="5382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260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3FAC-1CE2-1A14-2E33-7F497628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Jak </a:t>
            </a:r>
            <a:r>
              <a:rPr lang="en-US" b="1" err="1">
                <a:latin typeface="Aptos"/>
              </a:rPr>
              <a:t>wygląda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podatny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kod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na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tAKI</a:t>
            </a:r>
            <a:r>
              <a:rPr lang="en-US" b="1">
                <a:latin typeface="Aptos"/>
              </a:rPr>
              <a:t> </a:t>
            </a:r>
            <a:r>
              <a:rPr lang="en-US" b="1" err="1">
                <a:latin typeface="Aptos"/>
              </a:rPr>
              <a:t>atak</a:t>
            </a:r>
            <a:r>
              <a:rPr lang="en-US" b="1">
                <a:latin typeface="Aptos"/>
              </a:rPr>
              <a:t>?</a:t>
            </a:r>
            <a:endParaRPr lang="en-US" b="1">
              <a:latin typeface="Aptos"/>
              <a:ea typeface="Calibri Light"/>
              <a:cs typeface="Calibri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D39E60-6EC3-B011-E45C-DB9FF1168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713" t="18815" r="12155" b="18641"/>
          <a:stretch>
            <a:fillRect/>
          </a:stretch>
        </p:blipFill>
        <p:spPr>
          <a:xfrm>
            <a:off x="1931808" y="2236335"/>
            <a:ext cx="6854872" cy="356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7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84DA-B669-F8C5-789C-965048B3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Jak </a:t>
            </a:r>
            <a:r>
              <a:rPr lang="en-US" b="1" err="1">
                <a:latin typeface="Aptos"/>
              </a:rPr>
              <a:t>powinno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wyglądać</a:t>
            </a:r>
            <a:r>
              <a:rPr lang="en-US" b="1">
                <a:latin typeface="Aptos"/>
              </a:rPr>
              <a:t> </a:t>
            </a:r>
            <a:r>
              <a:rPr lang="en-US" b="1" err="1">
                <a:latin typeface="Aptos"/>
              </a:rPr>
              <a:t>takie</a:t>
            </a:r>
            <a:r>
              <a:rPr lang="en-US" b="1">
                <a:latin typeface="Aptos"/>
              </a:rPr>
              <a:t> </a:t>
            </a:r>
            <a:r>
              <a:rPr lang="en-US" b="1" err="1">
                <a:latin typeface="Aptos"/>
              </a:rPr>
              <a:t>zapytanie</a:t>
            </a:r>
            <a:r>
              <a:rPr lang="en-US" b="1">
                <a:latin typeface="Aptos"/>
              </a:rPr>
              <a:t>?</a:t>
            </a:r>
            <a:endParaRPr lang="en-US" b="1">
              <a:latin typeface="Aptos"/>
              <a:ea typeface="Calibri Light"/>
              <a:cs typeface="Calibri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7C676B-A303-3F3D-D566-2FF283E15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245" y="1984954"/>
            <a:ext cx="6371611" cy="42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2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AAFD-9782-EAF8-C473-DF343148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2" y="2370083"/>
            <a:ext cx="10131425" cy="1456267"/>
          </a:xfrm>
        </p:spPr>
        <p:txBody>
          <a:bodyPr/>
          <a:lstStyle/>
          <a:p>
            <a:pPr algn="ctr"/>
            <a:r>
              <a:rPr lang="en-US" sz="4000" b="1" err="1">
                <a:latin typeface="Aptos"/>
              </a:rPr>
              <a:t>Najpopularniejsze</a:t>
            </a:r>
            <a:r>
              <a:rPr lang="en-US" sz="4000" b="1">
                <a:latin typeface="Aptos"/>
              </a:rPr>
              <a:t> </a:t>
            </a:r>
            <a:br>
              <a:rPr lang="en-US" sz="4000" b="1">
                <a:latin typeface="Aptos"/>
              </a:rPr>
            </a:br>
            <a:r>
              <a:rPr lang="en-US" sz="4000" b="1" err="1">
                <a:latin typeface="Aptos"/>
              </a:rPr>
              <a:t>przykłady</a:t>
            </a:r>
            <a:r>
              <a:rPr lang="en-US" sz="4000" b="1">
                <a:latin typeface="Aptos"/>
              </a:rPr>
              <a:t> </a:t>
            </a:r>
            <a:r>
              <a:rPr lang="en-US" sz="4000" b="1" err="1">
                <a:latin typeface="Aptos"/>
              </a:rPr>
              <a:t>ataków</a:t>
            </a:r>
            <a:endParaRPr lang="en-US" sz="4000" b="1">
              <a:latin typeface="Aptos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011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26F1-F805-4735-9D60-CA19F7A4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FFFF"/>
                </a:solidFill>
                <a:latin typeface="Aptos"/>
              </a:rPr>
              <a:t>Atak or 1 = 1</a:t>
            </a:r>
            <a:endParaRPr lang="en-US" b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A77C-7E98-AF98-BC16-6A890C068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err="1"/>
              <a:t>Atakujący</a:t>
            </a:r>
            <a:r>
              <a:rPr lang="en-US"/>
              <a:t> </a:t>
            </a:r>
            <a:r>
              <a:rPr lang="en-US" err="1"/>
              <a:t>zamiast</a:t>
            </a:r>
            <a:r>
              <a:rPr lang="en-US"/>
              <a:t> </a:t>
            </a:r>
            <a:r>
              <a:rPr lang="en-US" err="1"/>
              <a:t>normalnego</a:t>
            </a:r>
            <a:r>
              <a:rPr lang="en-US"/>
              <a:t> </a:t>
            </a:r>
            <a:r>
              <a:rPr lang="en-US" err="1"/>
              <a:t>loginu</a:t>
            </a:r>
            <a:r>
              <a:rPr lang="en-US"/>
              <a:t> </a:t>
            </a:r>
            <a:r>
              <a:rPr lang="en-US" err="1"/>
              <a:t>wpisuje</a:t>
            </a:r>
            <a:r>
              <a:rPr lang="en-US"/>
              <a:t>:</a:t>
            </a:r>
          </a:p>
          <a:p>
            <a:pPr>
              <a:buNone/>
            </a:pPr>
            <a:r>
              <a:rPr lang="en-US">
                <a:latin typeface="Consolas"/>
              </a:rPr>
              <a:t>' OR '1'='1</a:t>
            </a:r>
          </a:p>
          <a:p>
            <a:pPr>
              <a:buNone/>
            </a:pPr>
            <a:r>
              <a:rPr lang="en-US"/>
              <a:t>Wtedy </a:t>
            </a:r>
            <a:r>
              <a:rPr lang="en-US" err="1"/>
              <a:t>aplikacja</a:t>
            </a:r>
            <a:r>
              <a:rPr lang="en-US"/>
              <a:t> </a:t>
            </a:r>
            <a:r>
              <a:rPr lang="en-US" err="1"/>
              <a:t>tworzy</a:t>
            </a:r>
            <a:r>
              <a:rPr lang="en-US"/>
              <a:t> </a:t>
            </a:r>
            <a:r>
              <a:rPr lang="en-US" err="1"/>
              <a:t>takie</a:t>
            </a:r>
            <a:r>
              <a:rPr lang="en-US"/>
              <a:t> </a:t>
            </a:r>
            <a:r>
              <a:rPr lang="en-US" err="1"/>
              <a:t>zapytanie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/>
              <a:t>W </a:t>
            </a:r>
            <a:r>
              <a:rPr lang="en-US" err="1"/>
              <a:t>rezultacie</a:t>
            </a:r>
            <a:r>
              <a:rPr lang="en-US"/>
              <a:t> </a:t>
            </a:r>
            <a:r>
              <a:rPr lang="en-US" err="1"/>
              <a:t>baza</a:t>
            </a:r>
            <a:r>
              <a:rPr lang="en-US"/>
              <a:t> </a:t>
            </a:r>
            <a:r>
              <a:rPr lang="en-US" err="1"/>
              <a:t>zwróci</a:t>
            </a:r>
            <a:r>
              <a:rPr lang="en-US"/>
              <a:t> </a:t>
            </a:r>
            <a:r>
              <a:rPr lang="en-US" err="1"/>
              <a:t>wszystkich</a:t>
            </a:r>
            <a:r>
              <a:rPr lang="en-US"/>
              <a:t> </a:t>
            </a:r>
            <a:r>
              <a:rPr lang="en-US" err="1"/>
              <a:t>użytkowników</a:t>
            </a:r>
            <a:r>
              <a:rPr lang="en-US"/>
              <a:t>, a </a:t>
            </a:r>
            <a:r>
              <a:rPr lang="en-US" err="1"/>
              <a:t>nie</a:t>
            </a:r>
            <a:r>
              <a:rPr lang="en-US"/>
              <a:t> </a:t>
            </a:r>
            <a:r>
              <a:rPr lang="en-US" err="1"/>
              <a:t>tylko</a:t>
            </a:r>
            <a:r>
              <a:rPr lang="en-US"/>
              <a:t> </a:t>
            </a:r>
            <a:r>
              <a:rPr lang="en-US" err="1"/>
              <a:t>jednego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 err="1"/>
              <a:t>Jeśli</a:t>
            </a:r>
            <a:r>
              <a:rPr lang="en-US"/>
              <a:t> </a:t>
            </a:r>
            <a:r>
              <a:rPr lang="en-US" err="1"/>
              <a:t>aplikacja</a:t>
            </a:r>
            <a:r>
              <a:rPr lang="en-US"/>
              <a:t> </a:t>
            </a:r>
            <a:r>
              <a:rPr lang="en-US" err="1"/>
              <a:t>wyświetla</a:t>
            </a:r>
            <a:r>
              <a:rPr lang="en-US"/>
              <a:t> </a:t>
            </a:r>
            <a:r>
              <a:rPr lang="en-US" err="1"/>
              <a:t>zwrócone</a:t>
            </a:r>
            <a:r>
              <a:rPr lang="en-US"/>
              <a:t> </a:t>
            </a:r>
            <a:r>
              <a:rPr lang="en-US" err="1"/>
              <a:t>rekordy</a:t>
            </a:r>
            <a:r>
              <a:rPr lang="en-US"/>
              <a:t>, </a:t>
            </a:r>
            <a:r>
              <a:rPr lang="en-US" err="1"/>
              <a:t>może</a:t>
            </a:r>
            <a:r>
              <a:rPr lang="en-US"/>
              <a:t> to </a:t>
            </a:r>
            <a:r>
              <a:rPr lang="en-US" err="1"/>
              <a:t>doprowadzić</a:t>
            </a:r>
            <a:r>
              <a:rPr lang="en-US"/>
              <a:t> do </a:t>
            </a:r>
            <a:r>
              <a:rPr lang="en-US" err="1"/>
              <a:t>ujawnienia</a:t>
            </a:r>
            <a:r>
              <a:rPr lang="en-US"/>
              <a:t> </a:t>
            </a:r>
            <a:r>
              <a:rPr lang="en-US" err="1"/>
              <a:t>danych</a:t>
            </a:r>
            <a:r>
              <a:rPr lang="en-US"/>
              <a:t> </a:t>
            </a:r>
            <a:r>
              <a:rPr lang="en-US" err="1"/>
              <a:t>użytkowników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C6F8E-1040-6BE7-A88C-8E1A1DD64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66" y="3429884"/>
            <a:ext cx="3573938" cy="125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9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AB42-7894-EDF8-9005-79E9B9D4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ptos"/>
                <a:ea typeface="+mj-lt"/>
                <a:cs typeface="+mj-lt"/>
              </a:rPr>
              <a:t>Ominięcie</a:t>
            </a:r>
            <a:r>
              <a:rPr lang="en-US" b="1" dirty="0">
                <a:latin typeface="Aptos"/>
                <a:ea typeface="+mj-lt"/>
                <a:cs typeface="+mj-lt"/>
              </a:rPr>
              <a:t> </a:t>
            </a:r>
            <a:r>
              <a:rPr lang="en-US" b="1" dirty="0" err="1">
                <a:latin typeface="Aptos"/>
                <a:ea typeface="+mj-lt"/>
                <a:cs typeface="+mj-lt"/>
              </a:rPr>
              <a:t>sprawdzania</a:t>
            </a:r>
            <a:r>
              <a:rPr lang="en-US" b="1" dirty="0">
                <a:latin typeface="Aptos"/>
                <a:ea typeface="+mj-lt"/>
                <a:cs typeface="+mj-lt"/>
              </a:rPr>
              <a:t> </a:t>
            </a:r>
            <a:r>
              <a:rPr lang="en-US" b="1" dirty="0" err="1">
                <a:latin typeface="Aptos"/>
                <a:ea typeface="+mj-lt"/>
                <a:cs typeface="+mj-lt"/>
              </a:rPr>
              <a:t>hasła</a:t>
            </a:r>
            <a:endParaRPr lang="en-US" b="1" dirty="0" err="1">
              <a:latin typeface="Aptos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EC8D-98CC-D7FE-F059-5940C5430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dirty="0" err="1">
                <a:latin typeface="Aptos"/>
                <a:ea typeface="+mn-lt"/>
                <a:cs typeface="+mn-lt"/>
              </a:rPr>
              <a:t>Atakujący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wpisuje</a:t>
            </a:r>
            <a:r>
              <a:rPr lang="en-US" dirty="0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>
              <a:buNone/>
            </a:pPr>
            <a:r>
              <a:rPr lang="en-US">
                <a:latin typeface="Aptos"/>
              </a:rPr>
              <a:t>admin' -- </a:t>
            </a:r>
          </a:p>
          <a:p>
            <a:pPr>
              <a:buNone/>
            </a:pPr>
            <a:r>
              <a:rPr lang="en-US" dirty="0" err="1">
                <a:latin typeface="Aptos"/>
                <a:ea typeface="+mn-lt"/>
                <a:cs typeface="+mn-lt"/>
              </a:rPr>
              <a:t>Powstaje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zapytanie</a:t>
            </a:r>
            <a:r>
              <a:rPr lang="en-US" dirty="0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Aptos"/>
                <a:ea typeface="+mn-lt"/>
                <a:cs typeface="+mn-lt"/>
              </a:rPr>
              <a:t>Znaki </a:t>
            </a:r>
            <a:r>
              <a:rPr lang="en-US" dirty="0">
                <a:latin typeface="Aptos"/>
              </a:rPr>
              <a:t>--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rozpoczynają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komentarz</a:t>
            </a:r>
            <a:r>
              <a:rPr lang="en-US" dirty="0">
                <a:latin typeface="Aptos"/>
                <a:ea typeface="+mn-lt"/>
                <a:cs typeface="+mn-lt"/>
              </a:rPr>
              <a:t> SQL, </a:t>
            </a:r>
            <a:r>
              <a:rPr lang="en-US" dirty="0" err="1">
                <a:latin typeface="Aptos"/>
                <a:ea typeface="+mn-lt"/>
                <a:cs typeface="+mn-lt"/>
              </a:rPr>
              <a:t>więc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końcowy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apostrof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zostaje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zignorowany</a:t>
            </a:r>
            <a:r>
              <a:rPr lang="en-US" dirty="0">
                <a:latin typeface="Aptos"/>
                <a:ea typeface="+mn-lt"/>
                <a:cs typeface="+mn-lt"/>
              </a:rPr>
              <a:t>.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buNone/>
            </a:pPr>
            <a:r>
              <a:rPr lang="en-US" dirty="0" err="1">
                <a:latin typeface="Aptos"/>
                <a:ea typeface="+mn-lt"/>
                <a:cs typeface="+mn-lt"/>
              </a:rPr>
              <a:t>Efekt</a:t>
            </a:r>
            <a:r>
              <a:rPr lang="en-US" dirty="0">
                <a:latin typeface="Aptos"/>
                <a:ea typeface="+mn-lt"/>
                <a:cs typeface="+mn-lt"/>
              </a:rPr>
              <a:t>: </a:t>
            </a:r>
            <a:r>
              <a:rPr lang="en-US" dirty="0" err="1">
                <a:latin typeface="Aptos"/>
                <a:ea typeface="+mn-lt"/>
                <a:cs typeface="+mn-lt"/>
              </a:rPr>
              <a:t>możliwe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nieautoryzowane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logowanie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na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konto</a:t>
            </a:r>
            <a:r>
              <a:rPr lang="en-US" dirty="0">
                <a:latin typeface="Aptos"/>
                <a:ea typeface="+mn-lt"/>
                <a:cs typeface="+mn-lt"/>
              </a:rPr>
              <a:t> </a:t>
            </a:r>
            <a:r>
              <a:rPr lang="en-US" dirty="0" err="1">
                <a:latin typeface="Aptos"/>
                <a:ea typeface="+mn-lt"/>
                <a:cs typeface="+mn-lt"/>
              </a:rPr>
              <a:t>administratora</a:t>
            </a:r>
            <a:endParaRPr lang="en-US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1FFE3-A7A3-57AB-6D9B-32B5B022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5" y="3412490"/>
            <a:ext cx="3653790" cy="109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8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6C01-C40F-AA6C-E2CC-D59435F4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  <a:ea typeface="+mj-lt"/>
                <a:cs typeface="+mj-lt"/>
              </a:rPr>
              <a:t>ATAK UNION SELECT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BF67-F5B9-FCAF-3A56-36CC6890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err="1">
                <a:latin typeface="Calibri"/>
                <a:ea typeface="+mn-lt"/>
                <a:cs typeface="+mn-lt"/>
              </a:rPr>
              <a:t>Załóżmy</a:t>
            </a:r>
            <a:r>
              <a:rPr lang="en-US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że</a:t>
            </a:r>
            <a:r>
              <a:rPr lang="en-US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tabela</a:t>
            </a:r>
            <a:r>
              <a:rPr lang="en-US">
                <a:latin typeface="Calibri"/>
                <a:ea typeface="+mn-lt"/>
                <a:cs typeface="+mn-lt"/>
              </a:rPr>
              <a:t> </a:t>
            </a:r>
            <a:r>
              <a:rPr lang="en-US">
                <a:latin typeface="Consolas"/>
              </a:rPr>
              <a:t>users</a:t>
            </a:r>
            <a:r>
              <a:rPr lang="en-US">
                <a:latin typeface="Calibri"/>
                <a:ea typeface="+mn-lt"/>
                <a:cs typeface="+mn-lt"/>
              </a:rPr>
              <a:t> </a:t>
            </a:r>
            <a:r>
              <a:rPr lang="en-US" err="1">
                <a:latin typeface="Calibri"/>
                <a:ea typeface="+mn-lt"/>
                <a:cs typeface="+mn-lt"/>
              </a:rPr>
              <a:t>zawiera</a:t>
            </a:r>
            <a:r>
              <a:rPr lang="en-US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trzy</a:t>
            </a:r>
            <a:r>
              <a:rPr lang="en-US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kolumny</a:t>
            </a:r>
            <a:r>
              <a:rPr lang="en-US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latin typeface="Consolas"/>
              </a:rPr>
              <a:t>id</a:t>
            </a:r>
            <a:r>
              <a:rPr lang="en-US">
                <a:latin typeface="Calibri"/>
                <a:ea typeface="+mn-lt"/>
                <a:cs typeface="+mn-lt"/>
              </a:rPr>
              <a:t>, </a:t>
            </a:r>
            <a:r>
              <a:rPr lang="en-US">
                <a:latin typeface="Consolas"/>
              </a:rPr>
              <a:t>username</a:t>
            </a:r>
            <a:r>
              <a:rPr lang="en-US">
                <a:latin typeface="Calibri"/>
                <a:ea typeface="+mn-lt"/>
                <a:cs typeface="+mn-lt"/>
              </a:rPr>
              <a:t>, </a:t>
            </a:r>
            <a:r>
              <a:rPr lang="en-US">
                <a:latin typeface="Consolas"/>
              </a:rPr>
              <a:t>password</a:t>
            </a:r>
            <a:r>
              <a:rPr lang="en-US">
                <a:latin typeface="Calibri"/>
                <a:ea typeface="+mn-lt"/>
                <a:cs typeface="+mn-lt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err="1">
                <a:latin typeface="Calibri"/>
                <a:ea typeface="+mn-lt"/>
                <a:cs typeface="+mn-lt"/>
              </a:rPr>
              <a:t>Atakujący</a:t>
            </a:r>
            <a:r>
              <a:rPr lang="en-US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wpisuje</a:t>
            </a:r>
            <a:r>
              <a:rPr lang="en-US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>
              <a:latin typeface="Calibri"/>
              <a:ea typeface="+mn-lt"/>
              <a:cs typeface="+mn-lt"/>
            </a:endParaRPr>
          </a:p>
          <a:p>
            <a:pPr>
              <a:buNone/>
            </a:pPr>
            <a:endParaRPr lang="en-US">
              <a:latin typeface="Calibri"/>
              <a:ea typeface="+mn-lt"/>
              <a:cs typeface="+mn-lt"/>
            </a:endParaRPr>
          </a:p>
          <a:p>
            <a:pPr>
              <a:buNone/>
            </a:pPr>
            <a:endParaRPr lang="en-US">
              <a:latin typeface="Calibri"/>
              <a:ea typeface="+mn-lt"/>
              <a:cs typeface="+mn-lt"/>
            </a:endParaRPr>
          </a:p>
          <a:p>
            <a:pPr>
              <a:buNone/>
            </a:pPr>
            <a:r>
              <a:rPr lang="en-US" err="1">
                <a:latin typeface="Calibri"/>
                <a:ea typeface="+mn-lt"/>
                <a:cs typeface="+mn-lt"/>
              </a:rPr>
              <a:t>Aplikacja</a:t>
            </a:r>
            <a:r>
              <a:rPr lang="en-US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utworzy</a:t>
            </a:r>
            <a:r>
              <a:rPr lang="en-US">
                <a:latin typeface="Calibri"/>
                <a:ea typeface="+mn-lt"/>
                <a:cs typeface="+mn-lt"/>
              </a:rPr>
              <a:t>: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CB67C-EC0F-1922-EC38-1F557A26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71" y="3430177"/>
            <a:ext cx="4536258" cy="814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EA66DF-2522-7153-DBDA-66CC22CC1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58" y="4897420"/>
            <a:ext cx="6200285" cy="15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0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F9F3-2461-7011-5906-B521EF1A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FFFF"/>
                </a:solidFill>
                <a:latin typeface="Aptos"/>
              </a:rPr>
              <a:t>Error-based </a:t>
            </a:r>
            <a:r>
              <a:rPr lang="en-US" b="1" err="1">
                <a:solidFill>
                  <a:srgbClr val="FFFFFF"/>
                </a:solidFill>
                <a:latin typeface="Aptos"/>
              </a:rPr>
              <a:t>sql</a:t>
            </a:r>
            <a:r>
              <a:rPr lang="en-US" b="1">
                <a:solidFill>
                  <a:srgbClr val="FFFFFF"/>
                </a:solidFill>
                <a:latin typeface="Aptos"/>
              </a:rPr>
              <a:t> injection</a:t>
            </a:r>
            <a:endParaRPr lang="en-US" b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E3B7-7E21-6777-5537-CB28C8EE6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3619"/>
            <a:ext cx="10131425" cy="39775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Aptos"/>
                <a:ea typeface="+mn-lt"/>
                <a:cs typeface="+mn-lt"/>
              </a:rPr>
              <a:t>1. </a:t>
            </a:r>
            <a:r>
              <a:rPr lang="en-US" b="1" err="1">
                <a:latin typeface="Aptos"/>
                <a:ea typeface="+mn-lt"/>
                <a:cs typeface="+mn-lt"/>
              </a:rPr>
              <a:t>Atakujący</a:t>
            </a:r>
            <a:r>
              <a:rPr lang="en-US" b="1">
                <a:latin typeface="Aptos"/>
                <a:ea typeface="+mn-lt"/>
                <a:cs typeface="+mn-lt"/>
              </a:rPr>
              <a:t> </a:t>
            </a:r>
            <a:r>
              <a:rPr lang="en-US" b="1" err="1">
                <a:latin typeface="Aptos"/>
                <a:ea typeface="+mn-lt"/>
                <a:cs typeface="+mn-lt"/>
              </a:rPr>
              <a:t>wpisuje</a:t>
            </a:r>
            <a:r>
              <a:rPr lang="en-US" b="1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>
              <a:buNone/>
            </a:pPr>
            <a:endParaRPr lang="en-US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b="1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latin typeface="Aptos"/>
                <a:ea typeface="+mn-lt"/>
                <a:cs typeface="+mn-lt"/>
              </a:rPr>
              <a:t>2. </a:t>
            </a:r>
            <a:r>
              <a:rPr lang="en-US" b="1" err="1">
                <a:latin typeface="Aptos"/>
                <a:ea typeface="+mn-lt"/>
                <a:cs typeface="+mn-lt"/>
              </a:rPr>
              <a:t>Aplikacja</a:t>
            </a:r>
            <a:r>
              <a:rPr lang="en-US" b="1">
                <a:latin typeface="Aptos"/>
                <a:ea typeface="+mn-lt"/>
                <a:cs typeface="+mn-lt"/>
              </a:rPr>
              <a:t> </a:t>
            </a:r>
            <a:r>
              <a:rPr lang="en-US" b="1" err="1">
                <a:latin typeface="Aptos"/>
                <a:ea typeface="+mn-lt"/>
                <a:cs typeface="+mn-lt"/>
              </a:rPr>
              <a:t>wykonuje</a:t>
            </a:r>
            <a:r>
              <a:rPr lang="en-US" b="1">
                <a:latin typeface="Aptos"/>
                <a:ea typeface="+mn-lt"/>
                <a:cs typeface="+mn-lt"/>
              </a:rPr>
              <a:t> </a:t>
            </a:r>
            <a:r>
              <a:rPr lang="en-US" b="1" err="1">
                <a:latin typeface="Aptos"/>
                <a:ea typeface="+mn-lt"/>
                <a:cs typeface="+mn-lt"/>
              </a:rPr>
              <a:t>zapytanie</a:t>
            </a:r>
            <a:r>
              <a:rPr lang="en-US" b="1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>
              <a:buNone/>
            </a:pPr>
            <a:endParaRPr lang="en-US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b="1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latin typeface="Aptos"/>
                <a:ea typeface="+mn-lt"/>
                <a:cs typeface="+mn-lt"/>
              </a:rPr>
              <a:t>3. Baza </a:t>
            </a:r>
            <a:r>
              <a:rPr lang="en-US" b="1" err="1">
                <a:latin typeface="Aptos"/>
                <a:ea typeface="+mn-lt"/>
                <a:cs typeface="+mn-lt"/>
              </a:rPr>
              <a:t>zwraca</a:t>
            </a:r>
            <a:r>
              <a:rPr lang="en-US" b="1">
                <a:latin typeface="Aptos"/>
                <a:ea typeface="+mn-lt"/>
                <a:cs typeface="+mn-lt"/>
              </a:rPr>
              <a:t> </a:t>
            </a:r>
            <a:r>
              <a:rPr lang="en-US" b="1" err="1">
                <a:latin typeface="Aptos"/>
                <a:ea typeface="+mn-lt"/>
                <a:cs typeface="+mn-lt"/>
              </a:rPr>
              <a:t>błąd</a:t>
            </a:r>
            <a:r>
              <a:rPr lang="en-US" b="1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E2133-543D-D284-8EE1-DC3E5820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351" y="2059265"/>
            <a:ext cx="2728864" cy="767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65CF9F-8D9E-DAA0-3171-177D24C8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071" y="3310870"/>
            <a:ext cx="4513672" cy="974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C2305-9040-840D-26ED-7474B86A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545" y="4805045"/>
            <a:ext cx="3806190" cy="14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0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544F-646D-6BA5-1239-6AA812BA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BOOLEAN-BASED BLIND 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1985-FE3B-CD19-3F84-5B415450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07757"/>
            <a:ext cx="10131425" cy="395130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 err="1">
                <a:latin typeface="Aptos"/>
                <a:ea typeface="+mn-lt"/>
                <a:cs typeface="+mn-lt"/>
              </a:rPr>
              <a:t>Atakujący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wpisuje</a:t>
            </a:r>
            <a:r>
              <a:rPr lang="en-US" dirty="0">
                <a:latin typeface="Aptos"/>
                <a:ea typeface="+mn-lt"/>
                <a:cs typeface="+mn-lt"/>
              </a:rPr>
              <a:t>:</a:t>
            </a: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dirty="0" err="1">
                <a:latin typeface="Aptos"/>
                <a:ea typeface="+mn-lt"/>
                <a:cs typeface="+mn-lt"/>
              </a:rPr>
              <a:t>Reakcja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aplikacji</a:t>
            </a:r>
            <a:r>
              <a:rPr lang="en-US" dirty="0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en-US" dirty="0">
                <a:latin typeface="Aptos"/>
                <a:ea typeface="+mn-lt"/>
                <a:cs typeface="+mn-lt"/>
              </a:rPr>
              <a:t>Warunek </a:t>
            </a:r>
            <a:r>
              <a:rPr lang="en-US" dirty="0" err="1">
                <a:latin typeface="Aptos"/>
                <a:ea typeface="+mn-lt"/>
                <a:cs typeface="+mn-lt"/>
              </a:rPr>
              <a:t>prawdziwy</a:t>
            </a:r>
            <a:r>
              <a:rPr lang="en-US" dirty="0">
                <a:latin typeface="Aptos"/>
                <a:ea typeface="+mn-lt"/>
                <a:cs typeface="+mn-lt"/>
              </a:rPr>
              <a:t> → „Znaleziono </a:t>
            </a:r>
            <a:r>
              <a:rPr lang="en-US" dirty="0" err="1">
                <a:latin typeface="Aptos"/>
                <a:ea typeface="+mn-lt"/>
                <a:cs typeface="+mn-lt"/>
              </a:rPr>
              <a:t>użytkownika</a:t>
            </a:r>
            <a:r>
              <a:rPr lang="en-US" dirty="0">
                <a:latin typeface="Aptos"/>
                <a:ea typeface="+mn-lt"/>
                <a:cs typeface="+mn-lt"/>
              </a:rPr>
              <a:t>”</a:t>
            </a:r>
          </a:p>
          <a:p>
            <a:pPr>
              <a:buClr>
                <a:srgbClr val="FFFFFF"/>
              </a:buClr>
            </a:pPr>
            <a:r>
              <a:rPr lang="en-US" dirty="0">
                <a:latin typeface="Aptos"/>
                <a:ea typeface="+mn-lt"/>
                <a:cs typeface="+mn-lt"/>
              </a:rPr>
              <a:t>Warunek </a:t>
            </a:r>
            <a:r>
              <a:rPr lang="en-US" dirty="0" err="1">
                <a:latin typeface="Aptos"/>
                <a:ea typeface="+mn-lt"/>
                <a:cs typeface="+mn-lt"/>
              </a:rPr>
              <a:t>fałszywy</a:t>
            </a:r>
            <a:r>
              <a:rPr lang="en-US" dirty="0">
                <a:latin typeface="Aptos"/>
                <a:ea typeface="+mn-lt"/>
                <a:cs typeface="+mn-lt"/>
              </a:rPr>
              <a:t> → „Nie </a:t>
            </a:r>
            <a:r>
              <a:rPr lang="en-US" dirty="0" err="1">
                <a:latin typeface="Aptos"/>
                <a:ea typeface="+mn-lt"/>
                <a:cs typeface="+mn-lt"/>
              </a:rPr>
              <a:t>znaleziono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 err="1">
                <a:latin typeface="Aptos"/>
                <a:ea typeface="+mn-lt"/>
                <a:cs typeface="+mn-lt"/>
              </a:rPr>
              <a:t>użytkownika</a:t>
            </a:r>
            <a:r>
              <a:rPr lang="en-US" dirty="0">
                <a:latin typeface="Aptos"/>
                <a:ea typeface="+mn-lt"/>
                <a:cs typeface="+mn-lt"/>
              </a:rPr>
              <a:t>”</a:t>
            </a:r>
          </a:p>
          <a:p>
            <a:pPr>
              <a:buNone/>
            </a:pPr>
            <a:endParaRPr lang="en-US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b="1" dirty="0" err="1">
                <a:latin typeface="Aptos"/>
                <a:ea typeface="+mn-lt"/>
                <a:cs typeface="+mn-lt"/>
              </a:rPr>
              <a:t>Wniosek</a:t>
            </a:r>
            <a:r>
              <a:rPr lang="en-US" b="1" dirty="0">
                <a:latin typeface="Aptos"/>
                <a:ea typeface="+mn-lt"/>
                <a:cs typeface="+mn-lt"/>
              </a:rPr>
              <a:t>: </a:t>
            </a:r>
            <a:r>
              <a:rPr lang="en-US" b="1" dirty="0" err="1">
                <a:latin typeface="Aptos"/>
                <a:ea typeface="+mn-lt"/>
                <a:cs typeface="+mn-lt"/>
              </a:rPr>
              <a:t>atakujący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 dirty="0" err="1">
                <a:latin typeface="Aptos"/>
                <a:ea typeface="+mn-lt"/>
                <a:cs typeface="+mn-lt"/>
              </a:rPr>
              <a:t>może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 dirty="0" err="1">
                <a:latin typeface="Aptos"/>
                <a:ea typeface="+mn-lt"/>
                <a:cs typeface="+mn-lt"/>
              </a:rPr>
              <a:t>zdobywać</a:t>
            </a:r>
            <a:r>
              <a:rPr lang="en-US" b="1" dirty="0">
                <a:latin typeface="Aptos"/>
                <a:ea typeface="+mn-lt"/>
                <a:cs typeface="+mn-lt"/>
              </a:rPr>
              <a:t> </a:t>
            </a:r>
            <a:r>
              <a:rPr lang="en-US" b="1" dirty="0" err="1">
                <a:latin typeface="Aptos"/>
                <a:ea typeface="+mn-lt"/>
                <a:cs typeface="+mn-lt"/>
              </a:rPr>
              <a:t>informację</a:t>
            </a:r>
            <a:r>
              <a:rPr lang="en-US" b="1" dirty="0">
                <a:latin typeface="Aptos"/>
                <a:ea typeface="+mn-lt"/>
                <a:cs typeface="+mn-lt"/>
              </a:rPr>
              <a:t> o </a:t>
            </a:r>
            <a:r>
              <a:rPr lang="en-US" b="1" dirty="0" err="1">
                <a:latin typeface="Aptos"/>
                <a:ea typeface="+mn-lt"/>
                <a:cs typeface="+mn-lt"/>
              </a:rPr>
              <a:t>bazie</a:t>
            </a:r>
            <a:r>
              <a:rPr lang="en-US" b="1" dirty="0">
                <a:latin typeface="Aptos"/>
                <a:ea typeface="+mn-lt"/>
                <a:cs typeface="+mn-lt"/>
              </a:rPr>
              <a:t> </a:t>
            </a:r>
            <a:r>
              <a:rPr lang="en-US" b="1" dirty="0" err="1">
                <a:latin typeface="Aptos"/>
                <a:ea typeface="+mn-lt"/>
                <a:cs typeface="+mn-lt"/>
              </a:rPr>
              <a:t>na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 dirty="0" err="1">
                <a:latin typeface="Aptos"/>
                <a:ea typeface="+mn-lt"/>
                <a:cs typeface="+mn-lt"/>
              </a:rPr>
              <a:t>podstawie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 dirty="0" err="1">
                <a:latin typeface="Aptos"/>
                <a:ea typeface="+mn-lt"/>
                <a:cs typeface="+mn-lt"/>
              </a:rPr>
              <a:t>reakcji</a:t>
            </a:r>
            <a:r>
              <a:rPr lang="en-US" b="1" dirty="0">
                <a:latin typeface="Aptos"/>
                <a:ea typeface="+mn-lt"/>
                <a:cs typeface="+mn-lt"/>
              </a:rPr>
              <a:t> </a:t>
            </a:r>
            <a:r>
              <a:rPr lang="en-US" b="1" dirty="0" err="1">
                <a:latin typeface="Aptos"/>
                <a:ea typeface="+mn-lt"/>
                <a:cs typeface="+mn-lt"/>
              </a:rPr>
              <a:t>aplikacji</a:t>
            </a:r>
            <a:r>
              <a:rPr lang="en-US" b="1" dirty="0">
                <a:latin typeface="Aptos"/>
                <a:ea typeface="+mn-lt"/>
                <a:cs typeface="+mn-lt"/>
              </a:rPr>
              <a:t> (TAK/NIE), bez </a:t>
            </a:r>
            <a:r>
              <a:rPr lang="en-US" b="1" dirty="0" err="1">
                <a:latin typeface="Aptos"/>
                <a:ea typeface="+mn-lt"/>
                <a:cs typeface="+mn-lt"/>
              </a:rPr>
              <a:t>bezpośredniego</a:t>
            </a:r>
            <a:r>
              <a:rPr lang="en-US" b="1" dirty="0">
                <a:latin typeface="Aptos"/>
                <a:ea typeface="+mn-lt"/>
                <a:cs typeface="+mn-lt"/>
              </a:rPr>
              <a:t> </a:t>
            </a:r>
            <a:r>
              <a:rPr lang="en-US" b="1" dirty="0" err="1">
                <a:latin typeface="Aptos"/>
                <a:ea typeface="+mn-lt"/>
                <a:cs typeface="+mn-lt"/>
              </a:rPr>
              <a:t>wyświetlania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 dirty="0" err="1">
                <a:latin typeface="Aptos"/>
                <a:ea typeface="+mn-lt"/>
                <a:cs typeface="+mn-lt"/>
              </a:rPr>
              <a:t>danych</a:t>
            </a:r>
            <a:r>
              <a:rPr lang="en-US" b="1" dirty="0">
                <a:latin typeface="Aptos"/>
                <a:ea typeface="+mn-lt"/>
                <a:cs typeface="+mn-lt"/>
              </a:rPr>
              <a:t>.</a:t>
            </a:r>
            <a:endParaRPr lang="en-US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Aptos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BFB02-C89E-5B95-D287-36DB6D6E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78" y="2752075"/>
            <a:ext cx="2643042" cy="92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2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BCF3-C40E-3078-93E1-F7175CF3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Aptos"/>
              </a:rPr>
              <a:t>time-BASED</a:t>
            </a:r>
            <a:r>
              <a:rPr lang="en-US" b="1">
                <a:latin typeface="Aptos"/>
              </a:rPr>
              <a:t> BLIND SQL INJECTION</a:t>
            </a:r>
            <a:endParaRPr lang="en-US">
              <a:latin typeface="Aptos"/>
            </a:endParaRPr>
          </a:p>
          <a:p>
            <a:endParaRPr lang="en-US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D4EA0-CB80-B3A5-F6CA-31757FEBB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07881"/>
            <a:ext cx="10131425" cy="36491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 err="1">
                <a:latin typeface="Aptos"/>
                <a:ea typeface="+mn-lt"/>
                <a:cs typeface="+mn-lt"/>
              </a:rPr>
              <a:t>Atakujący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zdobywa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informacje</a:t>
            </a:r>
            <a:r>
              <a:rPr lang="en-US" sz="1600" b="1">
                <a:latin typeface="Aptos"/>
                <a:ea typeface="+mn-lt"/>
                <a:cs typeface="+mn-lt"/>
              </a:rPr>
              <a:t>, </a:t>
            </a:r>
            <a:r>
              <a:rPr lang="en-US" sz="1600" b="1" err="1">
                <a:latin typeface="Aptos"/>
                <a:ea typeface="+mn-lt"/>
                <a:cs typeface="+mn-lt"/>
              </a:rPr>
              <a:t>analizując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czas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odpowiedzi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serwera</a:t>
            </a:r>
            <a:r>
              <a:rPr lang="en-US" sz="1600" b="1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Calibri"/>
              <a:cs typeface="Calibri"/>
            </a:endParaRPr>
          </a:p>
          <a:p>
            <a:pPr>
              <a:buNone/>
            </a:pPr>
            <a:r>
              <a:rPr lang="en-US" sz="1600" b="1" err="1">
                <a:latin typeface="Aptos"/>
                <a:ea typeface="+mn-lt"/>
                <a:cs typeface="+mn-lt"/>
              </a:rPr>
              <a:t>Przykład</a:t>
            </a:r>
            <a:r>
              <a:rPr lang="en-US" sz="1600" b="1">
                <a:latin typeface="Aptos"/>
                <a:ea typeface="+mn-lt"/>
                <a:cs typeface="+mn-lt"/>
              </a:rPr>
              <a:t> – </a:t>
            </a:r>
            <a:r>
              <a:rPr lang="en-US" sz="1600" b="1" err="1">
                <a:latin typeface="Aptos"/>
                <a:ea typeface="+mn-lt"/>
                <a:cs typeface="+mn-lt"/>
              </a:rPr>
              <a:t>sprawdzenie</a:t>
            </a:r>
            <a:r>
              <a:rPr lang="en-US" sz="1600" b="1">
                <a:latin typeface="Aptos"/>
                <a:ea typeface="+mn-lt"/>
                <a:cs typeface="+mn-lt"/>
              </a:rPr>
              <a:t>, </a:t>
            </a:r>
            <a:r>
              <a:rPr lang="en-US" sz="1600" b="1" err="1">
                <a:latin typeface="Aptos"/>
                <a:ea typeface="+mn-lt"/>
                <a:cs typeface="+mn-lt"/>
              </a:rPr>
              <a:t>czy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istnieje</a:t>
            </a:r>
            <a:r>
              <a:rPr lang="en-US" sz="1600" b="1">
                <a:latin typeface="Aptos"/>
                <a:ea typeface="+mn-lt"/>
                <a:cs typeface="+mn-lt"/>
              </a:rPr>
              <a:t> admin (MySQL):</a:t>
            </a:r>
            <a:endParaRPr lang="en-US" sz="1600">
              <a:latin typeface="Aptos"/>
              <a:ea typeface="Calibri"/>
              <a:cs typeface="Calibri"/>
            </a:endParaRPr>
          </a:p>
          <a:p>
            <a:pPr>
              <a:buNone/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>
              <a:buNone/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sz="1600" b="1" err="1">
                <a:latin typeface="Aptos"/>
                <a:ea typeface="+mn-lt"/>
                <a:cs typeface="+mn-lt"/>
              </a:rPr>
              <a:t>Reakcja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 b="1" err="1">
                <a:latin typeface="Aptos"/>
                <a:ea typeface="+mn-lt"/>
                <a:cs typeface="+mn-lt"/>
              </a:rPr>
              <a:t>aplikacji</a:t>
            </a:r>
            <a:r>
              <a:rPr lang="en-US" sz="1600" b="1">
                <a:latin typeface="Aptos"/>
                <a:ea typeface="+mn-lt"/>
                <a:cs typeface="+mn-lt"/>
              </a:rPr>
              <a:t>:</a:t>
            </a:r>
            <a:endParaRPr lang="en-US" sz="1600">
              <a:latin typeface="Aptos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1600">
                <a:latin typeface="Aptos"/>
                <a:ea typeface="+mn-lt"/>
                <a:cs typeface="+mn-lt"/>
              </a:rPr>
              <a:t>Admin </a:t>
            </a:r>
            <a:r>
              <a:rPr lang="en-US" sz="1600" err="1">
                <a:latin typeface="Aptos"/>
                <a:ea typeface="+mn-lt"/>
                <a:cs typeface="+mn-lt"/>
              </a:rPr>
              <a:t>istnieje</a:t>
            </a:r>
            <a:r>
              <a:rPr lang="en-US" sz="1600">
                <a:latin typeface="Aptos"/>
                <a:ea typeface="+mn-lt"/>
                <a:cs typeface="+mn-lt"/>
              </a:rPr>
              <a:t> → </a:t>
            </a:r>
            <a:r>
              <a:rPr lang="en-US" sz="1600" err="1">
                <a:latin typeface="Aptos"/>
                <a:ea typeface="+mn-lt"/>
                <a:cs typeface="+mn-lt"/>
              </a:rPr>
              <a:t>odpowiedź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opóźniona</a:t>
            </a:r>
            <a:r>
              <a:rPr lang="en-US" sz="1600">
                <a:latin typeface="Aptos"/>
                <a:ea typeface="+mn-lt"/>
                <a:cs typeface="+mn-lt"/>
              </a:rPr>
              <a:t> o </a:t>
            </a:r>
            <a:r>
              <a:rPr lang="en-US" sz="1600" err="1">
                <a:latin typeface="Aptos"/>
                <a:ea typeface="+mn-lt"/>
                <a:cs typeface="+mn-lt"/>
              </a:rPr>
              <a:t>około</a:t>
            </a:r>
            <a:r>
              <a:rPr lang="en-US" sz="1600">
                <a:latin typeface="Aptos"/>
                <a:ea typeface="+mn-lt"/>
                <a:cs typeface="+mn-lt"/>
              </a:rPr>
              <a:t> 5 </a:t>
            </a:r>
            <a:r>
              <a:rPr lang="en-US" sz="1600" err="1">
                <a:latin typeface="Aptos"/>
                <a:ea typeface="+mn-lt"/>
                <a:cs typeface="+mn-lt"/>
              </a:rPr>
              <a:t>sekund</a:t>
            </a:r>
            <a:r>
              <a:rPr lang="en-US" sz="160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1600">
                <a:latin typeface="Aptos"/>
                <a:ea typeface="+mn-lt"/>
                <a:cs typeface="+mn-lt"/>
              </a:rPr>
              <a:t>Admin </a:t>
            </a:r>
            <a:r>
              <a:rPr lang="en-US" sz="1600" err="1">
                <a:latin typeface="Aptos"/>
                <a:ea typeface="+mn-lt"/>
                <a:cs typeface="+mn-lt"/>
              </a:rPr>
              <a:t>nie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istnieje</a:t>
            </a:r>
            <a:r>
              <a:rPr lang="en-US" sz="1600">
                <a:latin typeface="Aptos"/>
                <a:ea typeface="+mn-lt"/>
                <a:cs typeface="+mn-lt"/>
              </a:rPr>
              <a:t> → </a:t>
            </a:r>
            <a:r>
              <a:rPr lang="en-US" sz="1600" err="1">
                <a:latin typeface="Aptos"/>
                <a:ea typeface="+mn-lt"/>
                <a:cs typeface="+mn-lt"/>
              </a:rPr>
              <a:t>brak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celowego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opóźnienia</a:t>
            </a:r>
            <a:r>
              <a:rPr lang="en-US" sz="160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>
                <a:latin typeface="Aptos"/>
                <a:ea typeface="+mn-lt"/>
                <a:cs typeface="+mn-lt"/>
              </a:rPr>
              <a:t>Wniosek:</a:t>
            </a:r>
            <a:r>
              <a:rPr lang="en-US" sz="1600">
                <a:latin typeface="Aptos"/>
                <a:ea typeface="+mn-lt"/>
                <a:cs typeface="+mn-lt"/>
              </a:rPr>
              <a:t> </a:t>
            </a:r>
            <a:r>
              <a:rPr lang="en-US" sz="1600" err="1">
                <a:latin typeface="Aptos"/>
                <a:ea typeface="+mn-lt"/>
                <a:cs typeface="+mn-lt"/>
              </a:rPr>
              <a:t>czas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odpowiedzi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może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ujawnić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wynik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warunku</a:t>
            </a:r>
            <a:r>
              <a:rPr lang="en-US" sz="1600">
                <a:latin typeface="Aptos"/>
                <a:ea typeface="+mn-lt"/>
                <a:cs typeface="+mn-lt"/>
              </a:rPr>
              <a:t>, </a:t>
            </a:r>
            <a:r>
              <a:rPr lang="en-US" sz="1600" err="1">
                <a:latin typeface="Aptos"/>
                <a:ea typeface="+mn-lt"/>
                <a:cs typeface="+mn-lt"/>
              </a:rPr>
              <a:t>nawet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gdy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aplikacja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nie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pokazuje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danych</a:t>
            </a:r>
            <a:r>
              <a:rPr lang="en-US" sz="1600">
                <a:latin typeface="Aptos"/>
                <a:ea typeface="+mn-lt"/>
                <a:cs typeface="+mn-lt"/>
              </a:rPr>
              <a:t> ani </a:t>
            </a:r>
            <a:r>
              <a:rPr lang="en-US" sz="1600" err="1">
                <a:latin typeface="Aptos"/>
                <a:ea typeface="+mn-lt"/>
                <a:cs typeface="+mn-lt"/>
              </a:rPr>
              <a:t>błędów</a:t>
            </a:r>
            <a:r>
              <a:rPr lang="en-US" sz="1600">
                <a:latin typeface="Aptos"/>
                <a:ea typeface="+mn-lt"/>
                <a:cs typeface="+mn-lt"/>
              </a:rPr>
              <a:t> SQL.</a:t>
            </a:r>
            <a:endParaRPr lang="en-US" sz="1600">
              <a:latin typeface="Aptos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F774A-4297-B33A-1F60-D3B91257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37" y="2536987"/>
            <a:ext cx="2670340" cy="15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3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C1F9-3654-91C6-1EA0-7CB0BD63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Jak to </a:t>
            </a:r>
            <a:r>
              <a:rPr lang="en-US" b="1" err="1">
                <a:latin typeface="Aptos"/>
              </a:rPr>
              <a:t>wygląda</a:t>
            </a:r>
            <a:r>
              <a:rPr lang="en-US" b="1">
                <a:latin typeface="Aptos"/>
              </a:rPr>
              <a:t> w </a:t>
            </a:r>
            <a:r>
              <a:rPr lang="en-US" b="1" err="1">
                <a:latin typeface="Aptos"/>
              </a:rPr>
              <a:t>praktyce</a:t>
            </a:r>
            <a:r>
              <a:rPr lang="en-US" b="1">
                <a:latin typeface="Aptos"/>
              </a:rPr>
              <a:t>?</a:t>
            </a:r>
          </a:p>
        </p:txBody>
      </p:sp>
      <p:pic>
        <p:nvPicPr>
          <p:cNvPr id="4" name="Obraz 3" descr="sqlmap - Wikipedia">
            <a:extLst>
              <a:ext uri="{FF2B5EF4-FFF2-40B4-BE49-F238E27FC236}">
                <a16:creationId xmlns:a16="http://schemas.microsoft.com/office/drawing/2014/main" id="{517B0081-C492-3C62-CF76-58A61C75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89" y="2215334"/>
            <a:ext cx="3753108" cy="1974250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pic>
        <p:nvPicPr>
          <p:cNvPr id="5" name="Obraz 4" descr="Burp Suite Training Course | BSCP Certification [OCT-2026]">
            <a:extLst>
              <a:ext uri="{FF2B5EF4-FFF2-40B4-BE49-F238E27FC236}">
                <a16:creationId xmlns:a16="http://schemas.microsoft.com/office/drawing/2014/main" id="{FA77BA88-3FBD-28F5-5B5D-327DE57AB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284" y="2215335"/>
            <a:ext cx="3856080" cy="1974249"/>
          </a:xfrm>
          <a:prstGeom prst="rect">
            <a:avLst/>
          </a:prstGeom>
          <a:ln w="57150">
            <a:solidFill>
              <a:schemeClr val="accent3"/>
            </a:solidFill>
          </a:ln>
        </p:spPr>
      </p:pic>
      <p:pic>
        <p:nvPicPr>
          <p:cNvPr id="7" name="Obraz 6" descr="OWASP ZAP: A quick introduction to a versatile open source DAST tool">
            <a:extLst>
              <a:ext uri="{FF2B5EF4-FFF2-40B4-BE49-F238E27FC236}">
                <a16:creationId xmlns:a16="http://schemas.microsoft.com/office/drawing/2014/main" id="{F88AFD22-05CC-0BC4-1DBB-F4E6F4F6C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239" y="4008184"/>
            <a:ext cx="4174522" cy="1982308"/>
          </a:xfrm>
          <a:prstGeom prst="rect">
            <a:avLst/>
          </a:prstGeom>
          <a:ln w="5715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334468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7B43E5BB-4C22-68F3-BA4F-9CE4C724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964267"/>
            <a:ext cx="3254990" cy="24214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sz="3700" b="1" dirty="0"/>
              <a:t>Mamy </a:t>
            </a:r>
            <a:r>
              <a:rPr lang="en-US" sz="3700" b="1" dirty="0" err="1"/>
              <a:t>nadzieję</a:t>
            </a:r>
            <a:r>
              <a:rPr lang="en-US" sz="3700" b="1" dirty="0"/>
              <a:t>, </a:t>
            </a:r>
            <a:r>
              <a:rPr lang="en-US" sz="3700" b="1" dirty="0" err="1"/>
              <a:t>że</a:t>
            </a:r>
            <a:r>
              <a:rPr lang="en-US" sz="3700" b="1" dirty="0"/>
              <a:t> </a:t>
            </a:r>
            <a:r>
              <a:rPr lang="en-US" sz="3700" b="1" dirty="0" err="1"/>
              <a:t>wy</a:t>
            </a:r>
            <a:r>
              <a:rPr lang="en-US" sz="3700" b="1" dirty="0"/>
              <a:t> </a:t>
            </a:r>
            <a:r>
              <a:rPr lang="en-US" sz="3700" b="1" dirty="0" err="1"/>
              <a:t>się</a:t>
            </a:r>
            <a:r>
              <a:rPr lang="en-US" sz="3700" b="1" dirty="0"/>
              <a:t> </a:t>
            </a:r>
            <a:r>
              <a:rPr lang="en-US" sz="3700" b="1" dirty="0" err="1"/>
              <a:t>dobrze</a:t>
            </a:r>
            <a:r>
              <a:rPr lang="en-US" sz="3700" b="1" dirty="0"/>
              <a:t> </a:t>
            </a:r>
            <a:r>
              <a:rPr lang="en-US" sz="3700" b="1" dirty="0" err="1"/>
              <a:t>bawim</a:t>
            </a:r>
            <a:br>
              <a:rPr lang="en-US" sz="3700" b="1" dirty="0"/>
            </a:br>
            <a:r>
              <a:rPr lang="en-US" sz="3700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13139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Celestial</vt:lpstr>
      <vt:lpstr>SQL Injection</vt:lpstr>
      <vt:lpstr>Co to jest SQL Injection?</vt:lpstr>
      <vt:lpstr>Schemat ataku</vt:lpstr>
      <vt:lpstr>Jak wygląda podatny kod na tAKI atak?</vt:lpstr>
      <vt:lpstr>Jak powinno wyglądać takie zapytanie?</vt:lpstr>
      <vt:lpstr>Najpopularniejsze  przykłady ataków</vt:lpstr>
      <vt:lpstr>Atak or 1 = 1</vt:lpstr>
      <vt:lpstr>Ominięcie sprawdzania hasła</vt:lpstr>
      <vt:lpstr>ATAK UNION SELECT</vt:lpstr>
      <vt:lpstr>Error-based sql injection</vt:lpstr>
      <vt:lpstr>BOOLEAN-BASED BLIND SQL Injection</vt:lpstr>
      <vt:lpstr>time-BASED BLIND SQL INJECTION </vt:lpstr>
      <vt:lpstr>Jak to wygląda w praktyce?</vt:lpstr>
      <vt:lpstr>Mamy nadzieję, że wy się dobrze bawim 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178</cp:revision>
  <dcterms:created xsi:type="dcterms:W3CDTF">2026-10-25T14:47:02Z</dcterms:created>
  <dcterms:modified xsi:type="dcterms:W3CDTF">2026-10-28T19:59:11Z</dcterms:modified>
</cp:coreProperties>
</file>